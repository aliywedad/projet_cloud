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DD11D4-E22C-4AB2-88FC-35BE58C8BF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2EE126-7904-4EE6-88E4-7B99E99B56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C9B2BC-4F90-4A62-B147-5FF51E6BDE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4F20FD-B6BF-4452-8685-53D7225802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E57FC-8CED-4820-A80F-68B20440C0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12C91D-2602-4E70-A451-D98DC1A0CF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51544B-782D-48CE-B93E-650C23C3C9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7E43FE-6F00-46F3-88A9-43D7FA387D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3CCD5B-4B3F-421B-8076-FC66C38DC8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2BF5D7-2DF8-45B8-B841-586BDC7DF0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AFFDB4-92AE-4104-9D42-B643B2B479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2761560"/>
            <a:ext cx="12191400" cy="91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2926080"/>
            <a:ext cx="3840120" cy="36360"/>
          </a:xfrm>
          <a:prstGeom prst="rect">
            <a:avLst/>
          </a:prstGeom>
          <a:solidFill>
            <a:srgbClr val="3a4a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123444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 Web Hautement Disponible sur AWS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306324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Deploiement automatise avec AWS CloudFormation  —  Infrastructure as Code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60948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VPC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246564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432180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 Scaling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617832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t3.micro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803448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RDS PostgreSQL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9890640" y="4069080"/>
            <a:ext cx="1691280" cy="456840"/>
          </a:xfrm>
          <a:prstGeom prst="roundRect">
            <a:avLst>
              <a:gd name="adj" fmla="val 50000"/>
            </a:avLst>
          </a:prstGeom>
          <a:solidFill>
            <a:srgbClr val="32404f"/>
          </a:solidFill>
          <a:ln w="15875">
            <a:solidFill>
              <a:srgbClr val="4658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CloudWatch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914400" y="5074920"/>
            <a:ext cx="10332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Projet 1 — Architecture Cloud Avancee (IaaS / PaaS)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914400" y="544068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lang="en-US" sz="1400" b="0" u="none" strike="noStrike">
                <a:solidFill>
                  <a:srgbClr val="c7cdd4"/>
                </a:solidFill>
                <a:effectLst/>
                <a:uFillTx/>
                <a:latin typeface="Calibri"/>
              </a:rPr>
              <a:t>Groupe : GROUP-22053-22086-22014-25240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7cdd4"/>
                </a:solidFill>
                <a:effectLst/>
                <a:uFillTx/>
                <a:latin typeface="Calibri"/>
              </a:rPr>
              <a:t>Etudiants : 22053  •  22086  •  22014  •  25240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Sommaire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685800" y="137160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7"/>
          <p:cNvSpPr/>
          <p:nvPr/>
        </p:nvSpPr>
        <p:spPr>
          <a:xfrm>
            <a:off x="887040" y="156348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1600200" y="137160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Contexte et objectifs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685800" y="246888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val 10"/>
          <p:cNvSpPr/>
          <p:nvPr/>
        </p:nvSpPr>
        <p:spPr>
          <a:xfrm>
            <a:off x="887040" y="266076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600200" y="246888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Architecture globale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2"/>
          <p:cNvSpPr/>
          <p:nvPr/>
        </p:nvSpPr>
        <p:spPr>
          <a:xfrm>
            <a:off x="685800" y="356616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13"/>
          <p:cNvSpPr/>
          <p:nvPr/>
        </p:nvSpPr>
        <p:spPr>
          <a:xfrm>
            <a:off x="887040" y="375804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1600200" y="356616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Reseau : VPC et sous-reseaux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685800" y="466344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val 16"/>
          <p:cNvSpPr/>
          <p:nvPr/>
        </p:nvSpPr>
        <p:spPr>
          <a:xfrm>
            <a:off x="887040" y="485532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1600200" y="466344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Securite : Security Groups et IAM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8"/>
          <p:cNvSpPr/>
          <p:nvPr/>
        </p:nvSpPr>
        <p:spPr>
          <a:xfrm>
            <a:off x="6263640" y="137160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val 19"/>
          <p:cNvSpPr/>
          <p:nvPr/>
        </p:nvSpPr>
        <p:spPr>
          <a:xfrm>
            <a:off x="6464880" y="156348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7178040" y="137160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Load Balancer et Auto 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21"/>
          <p:cNvSpPr/>
          <p:nvPr/>
        </p:nvSpPr>
        <p:spPr>
          <a:xfrm>
            <a:off x="6263640" y="246888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val 22"/>
          <p:cNvSpPr/>
          <p:nvPr/>
        </p:nvSpPr>
        <p:spPr>
          <a:xfrm>
            <a:off x="6464880" y="266076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7178040" y="246888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Base de donnees 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24"/>
          <p:cNvSpPr/>
          <p:nvPr/>
        </p:nvSpPr>
        <p:spPr>
          <a:xfrm>
            <a:off x="6263640" y="356616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25"/>
          <p:cNvSpPr/>
          <p:nvPr/>
        </p:nvSpPr>
        <p:spPr>
          <a:xfrm>
            <a:off x="6464880" y="375804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6"/>
          <p:cNvSpPr/>
          <p:nvPr/>
        </p:nvSpPr>
        <p:spPr>
          <a:xfrm>
            <a:off x="7178040" y="356616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Supervision CloudWatch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7"/>
          <p:cNvSpPr/>
          <p:nvPr/>
        </p:nvSpPr>
        <p:spPr>
          <a:xfrm>
            <a:off x="6263640" y="4663440"/>
            <a:ext cx="5257440" cy="932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28"/>
          <p:cNvSpPr/>
          <p:nvPr/>
        </p:nvSpPr>
        <p:spPr>
          <a:xfrm>
            <a:off x="6464880" y="4855320"/>
            <a:ext cx="548280" cy="54828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9"/>
          <p:cNvSpPr/>
          <p:nvPr/>
        </p:nvSpPr>
        <p:spPr>
          <a:xfrm>
            <a:off x="7178040" y="4663440"/>
            <a:ext cx="420588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Infrastructure as Code, couts et bilan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 et objectifs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685800" y="1280160"/>
            <a:ext cx="10789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Concevoir et deployer, entierement avec AWS CloudFormation, une infrastructure web multi-niveaux et hautement disponible qui heberge une application Flask CRUD. Aucune ressource n'est creee a la main dans la console : tout est decrit en code (YAML).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7"/>
          <p:cNvSpPr/>
          <p:nvPr/>
        </p:nvSpPr>
        <p:spPr>
          <a:xfrm>
            <a:off x="609480" y="2926080"/>
            <a:ext cx="208440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8"/>
          <p:cNvSpPr/>
          <p:nvPr/>
        </p:nvSpPr>
        <p:spPr>
          <a:xfrm>
            <a:off x="609480" y="2926080"/>
            <a:ext cx="2084400" cy="127800"/>
          </a:xfrm>
          <a:prstGeom prst="rect">
            <a:avLst/>
          </a:prstGeom>
          <a:solidFill>
            <a:srgbClr val="8c4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9"/>
          <p:cNvSpPr/>
          <p:nvPr/>
        </p:nvSpPr>
        <p:spPr>
          <a:xfrm>
            <a:off x="1240560" y="3337560"/>
            <a:ext cx="822600" cy="822600"/>
          </a:xfrm>
          <a:prstGeom prst="ellipse">
            <a:avLst/>
          </a:prstGeom>
          <a:solidFill>
            <a:srgbClr val="ece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c4fff"/>
                </a:solidFill>
                <a:effectLst/>
                <a:uFillTx/>
                <a:latin typeface="Calibri"/>
              </a:rPr>
              <a:t>HD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700920" y="4297680"/>
            <a:ext cx="190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Haute disponibilite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1"/>
          <p:cNvSpPr/>
          <p:nvPr/>
        </p:nvSpPr>
        <p:spPr>
          <a:xfrm>
            <a:off x="700920" y="47091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2 Availability Zones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2"/>
          <p:cNvSpPr/>
          <p:nvPr/>
        </p:nvSpPr>
        <p:spPr>
          <a:xfrm>
            <a:off x="2831400" y="2926080"/>
            <a:ext cx="208440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3"/>
          <p:cNvSpPr/>
          <p:nvPr/>
        </p:nvSpPr>
        <p:spPr>
          <a:xfrm>
            <a:off x="2831400" y="2926080"/>
            <a:ext cx="2084400" cy="127800"/>
          </a:xfrm>
          <a:prstGeom prst="rect">
            <a:avLst/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14"/>
          <p:cNvSpPr/>
          <p:nvPr/>
        </p:nvSpPr>
        <p:spPr>
          <a:xfrm>
            <a:off x="3462480" y="3337560"/>
            <a:ext cx="822600" cy="822600"/>
          </a:xfrm>
          <a:prstGeom prst="ellipse">
            <a:avLst/>
          </a:prstGeom>
          <a:solidFill>
            <a:srgbClr val="fb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ed7100"/>
                </a:solidFill>
                <a:effectLst/>
                <a:uFillTx/>
                <a:latin typeface="Calibri"/>
              </a:rPr>
              <a:t>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2922840" y="4297680"/>
            <a:ext cx="190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Auto 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6"/>
          <p:cNvSpPr/>
          <p:nvPr/>
        </p:nvSpPr>
        <p:spPr>
          <a:xfrm>
            <a:off x="2922840" y="47091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selon le CPU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7"/>
          <p:cNvSpPr/>
          <p:nvPr/>
        </p:nvSpPr>
        <p:spPr>
          <a:xfrm>
            <a:off x="5053320" y="2926080"/>
            <a:ext cx="208440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8"/>
          <p:cNvSpPr/>
          <p:nvPr/>
        </p:nvSpPr>
        <p:spPr>
          <a:xfrm>
            <a:off x="5053320" y="2926080"/>
            <a:ext cx="2084400" cy="127800"/>
          </a:xfrm>
          <a:prstGeom prst="rect">
            <a:avLst/>
          </a:prstGeom>
          <a:solidFill>
            <a:srgbClr val="2e5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19"/>
          <p:cNvSpPr/>
          <p:nvPr/>
        </p:nvSpPr>
        <p:spPr>
          <a:xfrm>
            <a:off x="5684400" y="3337560"/>
            <a:ext cx="822600" cy="822600"/>
          </a:xfrm>
          <a:prstGeom prst="ellipse">
            <a:avLst/>
          </a:prstGeom>
          <a:solidFill>
            <a:srgbClr val="dfe6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e5fe8"/>
                </a:solidFill>
                <a:effectLst/>
                <a:uFillTx/>
                <a:latin typeface="Calibri"/>
              </a:rPr>
              <a:t>DB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5144760" y="4297680"/>
            <a:ext cx="190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Base privee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1"/>
          <p:cNvSpPr/>
          <p:nvPr/>
        </p:nvSpPr>
        <p:spPr>
          <a:xfrm>
            <a:off x="5144760" y="47091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RDS non exposee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22"/>
          <p:cNvSpPr/>
          <p:nvPr/>
        </p:nvSpPr>
        <p:spPr>
          <a:xfrm>
            <a:off x="7275600" y="2926080"/>
            <a:ext cx="208440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3"/>
          <p:cNvSpPr/>
          <p:nvPr/>
        </p:nvSpPr>
        <p:spPr>
          <a:xfrm>
            <a:off x="7275600" y="2926080"/>
            <a:ext cx="2084400" cy="127800"/>
          </a:xfrm>
          <a:prstGeom prst="rect">
            <a:avLst/>
          </a:prstGeom>
          <a:solidFill>
            <a:srgbClr val="d615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24"/>
          <p:cNvSpPr/>
          <p:nvPr/>
        </p:nvSpPr>
        <p:spPr>
          <a:xfrm>
            <a:off x="7906320" y="3337560"/>
            <a:ext cx="822600" cy="822600"/>
          </a:xfrm>
          <a:prstGeom prst="ellipse">
            <a:avLst/>
          </a:prstGeom>
          <a:solidFill>
            <a:srgbClr val="fad9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6156f"/>
                </a:solidFill>
                <a:effectLst/>
                <a:uFillTx/>
                <a:latin typeface="Calibri"/>
              </a:rPr>
              <a:t>CW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5"/>
          <p:cNvSpPr/>
          <p:nvPr/>
        </p:nvSpPr>
        <p:spPr>
          <a:xfrm>
            <a:off x="7367040" y="4297680"/>
            <a:ext cx="190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Supervision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6"/>
          <p:cNvSpPr/>
          <p:nvPr/>
        </p:nvSpPr>
        <p:spPr>
          <a:xfrm>
            <a:off x="7367040" y="47091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logs + alarmes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27"/>
          <p:cNvSpPr/>
          <p:nvPr/>
        </p:nvSpPr>
        <p:spPr>
          <a:xfrm>
            <a:off x="9497520" y="2926080"/>
            <a:ext cx="2084400" cy="214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28"/>
          <p:cNvSpPr/>
          <p:nvPr/>
        </p:nvSpPr>
        <p:spPr>
          <a:xfrm>
            <a:off x="9497520" y="2926080"/>
            <a:ext cx="2084400" cy="127800"/>
          </a:xfrm>
          <a:prstGeom prst="rect">
            <a:avLst/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Oval 29"/>
          <p:cNvSpPr/>
          <p:nvPr/>
        </p:nvSpPr>
        <p:spPr>
          <a:xfrm>
            <a:off x="10128240" y="3337560"/>
            <a:ext cx="822600" cy="822600"/>
          </a:xfrm>
          <a:prstGeom prst="ellipse">
            <a:avLst/>
          </a:prstGeom>
          <a:solidFill>
            <a:srgbClr val="daf1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9b57"/>
                </a:solidFill>
                <a:effectLst/>
                <a:uFillTx/>
                <a:latin typeface="Calibri"/>
              </a:rPr>
              <a:t>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0"/>
          <p:cNvSpPr/>
          <p:nvPr/>
        </p:nvSpPr>
        <p:spPr>
          <a:xfrm>
            <a:off x="9588960" y="4297680"/>
            <a:ext cx="190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Faible cout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1"/>
          <p:cNvSpPr/>
          <p:nvPr/>
        </p:nvSpPr>
        <p:spPr>
          <a:xfrm>
            <a:off x="9588960" y="47091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free tier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 globale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6" descr="Gemini_Generated_Image_b2ic85b2ic85b2ic.png"/>
          <p:cNvPicPr/>
          <p:nvPr/>
        </p:nvPicPr>
        <p:blipFill>
          <a:blip r:embed="rId1"/>
          <a:stretch/>
        </p:blipFill>
        <p:spPr>
          <a:xfrm>
            <a:off x="1877400" y="1234440"/>
            <a:ext cx="843696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ounded Rectangle 7"/>
          <p:cNvSpPr/>
          <p:nvPr/>
        </p:nvSpPr>
        <p:spPr>
          <a:xfrm>
            <a:off x="2194560" y="5989320"/>
            <a:ext cx="7772040" cy="45684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Flux :  Internet  →  Load Balancer  →  EC2 (Auto Scaling)  →  RDS privee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vpc.yaml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Reseau : VPC et sous-reseaux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685800" y="1234440"/>
            <a:ext cx="10835280" cy="3565800"/>
          </a:xfrm>
          <a:prstGeom prst="roundRect">
            <a:avLst>
              <a:gd name="adj" fmla="val 3000"/>
            </a:avLst>
          </a:prstGeom>
          <a:solidFill>
            <a:srgbClr val="fbfaff"/>
          </a:solidFill>
          <a:ln w="19050">
            <a:solidFill>
              <a:srgbClr val="8c4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868680" y="13258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8c4fff"/>
                </a:solidFill>
                <a:effectLst/>
                <a:uFillTx/>
                <a:latin typeface="Calibri"/>
              </a:rPr>
              <a:t>VPC  10.0.0.0/16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1051560" y="17373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Availability Zone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1051560" y="2057400"/>
            <a:ext cx="4480200" cy="1051200"/>
          </a:xfrm>
          <a:prstGeom prst="roundRect">
            <a:avLst>
              <a:gd name="adj" fmla="val 6000"/>
            </a:avLst>
          </a:prstGeom>
          <a:solidFill>
            <a:srgbClr val="daf1e4"/>
          </a:solidFill>
          <a:ln w="15875">
            <a:solidFill>
              <a:srgbClr val="1f9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Sous-reseau PUBLIC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ALB   •   NAT Gateway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1"/>
          <p:cNvSpPr/>
          <p:nvPr/>
        </p:nvSpPr>
        <p:spPr>
          <a:xfrm>
            <a:off x="1051560" y="3246120"/>
            <a:ext cx="4480200" cy="1371240"/>
          </a:xfrm>
          <a:prstGeom prst="roundRect">
            <a:avLst>
              <a:gd name="adj" fmla="val 5000"/>
            </a:avLst>
          </a:prstGeom>
          <a:solidFill>
            <a:srgbClr val="dfe6fb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Sous-reseau PRIVE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EC2 (Flask)   •   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6355080" y="17373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Availability Zone 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6355080" y="2057400"/>
            <a:ext cx="4480200" cy="1051200"/>
          </a:xfrm>
          <a:prstGeom prst="roundRect">
            <a:avLst>
              <a:gd name="adj" fmla="val 6000"/>
            </a:avLst>
          </a:prstGeom>
          <a:solidFill>
            <a:srgbClr val="daf1e4"/>
          </a:solidFill>
          <a:ln w="15875">
            <a:solidFill>
              <a:srgbClr val="1f9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Sous-reseau PUBLIC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ALB   •   NAT Gateway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4"/>
          <p:cNvSpPr/>
          <p:nvPr/>
        </p:nvSpPr>
        <p:spPr>
          <a:xfrm>
            <a:off x="6355080" y="3246120"/>
            <a:ext cx="4480200" cy="1371240"/>
          </a:xfrm>
          <a:prstGeom prst="roundRect">
            <a:avLst>
              <a:gd name="adj" fmla="val 5000"/>
            </a:avLst>
          </a:prstGeom>
          <a:solidFill>
            <a:srgbClr val="dfe6fb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Sous-reseau PRIVE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EC2 (Flask)   •   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5"/>
          <p:cNvSpPr/>
          <p:nvPr/>
        </p:nvSpPr>
        <p:spPr>
          <a:xfrm>
            <a:off x="822960" y="4983480"/>
            <a:ext cx="5211720" cy="639720"/>
          </a:xfrm>
          <a:prstGeom prst="roundRect">
            <a:avLst>
              <a:gd name="adj" fmla="val 30000"/>
            </a:avLst>
          </a:prstGeom>
          <a:solidFill>
            <a:srgbClr val="dcf3e5"/>
          </a:solidFill>
          <a:ln w="15875">
            <a:solidFill>
              <a:srgbClr val="1f9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Table de routage PUBLIQUE  →  Internet Gateway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6172200" y="4983480"/>
            <a:ext cx="5211720" cy="639720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5875">
            <a:solidFill>
              <a:srgbClr val="ed71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Table de routage PRIVEE  →  NAT Gateway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685800" y="5715000"/>
            <a:ext cx="1083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2 zones = tolerance de panne : si une AZ tombe, l'autre continue de servir l'application.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security.yaml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Securite : Security Groups et IAM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7"/>
          <p:cNvSpPr/>
          <p:nvPr/>
        </p:nvSpPr>
        <p:spPr>
          <a:xfrm>
            <a:off x="640080" y="1783080"/>
            <a:ext cx="1599840" cy="95976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5875">
            <a:solidFill>
              <a:srgbClr val="cbd2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Internet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2788920" y="1783080"/>
            <a:ext cx="2468520" cy="959760"/>
          </a:xfrm>
          <a:prstGeom prst="roundRect">
            <a:avLst>
              <a:gd name="adj" fmla="val 10000"/>
            </a:avLst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ALBSecurityGroup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port 80 depuis Internet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9"/>
          <p:cNvSpPr/>
          <p:nvPr/>
        </p:nvSpPr>
        <p:spPr>
          <a:xfrm>
            <a:off x="5715000" y="1783080"/>
            <a:ext cx="2468520" cy="959760"/>
          </a:xfrm>
          <a:prstGeom prst="roundRect">
            <a:avLst>
              <a:gd name="adj" fmla="val 10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WebServerSG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port 5000 depuis l'ALB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0"/>
          <p:cNvSpPr/>
          <p:nvPr/>
        </p:nvSpPr>
        <p:spPr>
          <a:xfrm>
            <a:off x="8641080" y="1783080"/>
            <a:ext cx="2880000" cy="959760"/>
          </a:xfrm>
          <a:prstGeom prst="roundRect">
            <a:avLst>
              <a:gd name="adj" fmla="val 10000"/>
            </a:avLst>
          </a:prstGeom>
          <a:solidFill>
            <a:srgbClr val="2e5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DatabaseSG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port 5432 depuis les EC2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ight Arrow 11"/>
          <p:cNvSpPr/>
          <p:nvPr/>
        </p:nvSpPr>
        <p:spPr>
          <a:xfrm>
            <a:off x="2331720" y="2075760"/>
            <a:ext cx="3837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ight Arrow 12"/>
          <p:cNvSpPr/>
          <p:nvPr/>
        </p:nvSpPr>
        <p:spPr>
          <a:xfrm>
            <a:off x="5349240" y="2075760"/>
            <a:ext cx="3837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ight Arrow 13"/>
          <p:cNvSpPr/>
          <p:nvPr/>
        </p:nvSpPr>
        <p:spPr>
          <a:xfrm>
            <a:off x="8275320" y="2075760"/>
            <a:ext cx="3837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2240280" y="276156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:80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5257800" y="276156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:5000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6"/>
          <p:cNvSpPr/>
          <p:nvPr/>
        </p:nvSpPr>
        <p:spPr>
          <a:xfrm>
            <a:off x="8183880" y="276156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:5432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7"/>
          <p:cNvSpPr/>
          <p:nvPr/>
        </p:nvSpPr>
        <p:spPr>
          <a:xfrm>
            <a:off x="2788920" y="3794760"/>
            <a:ext cx="8732160" cy="868320"/>
          </a:xfrm>
          <a:prstGeom prst="roundRect">
            <a:avLst>
              <a:gd name="adj" fmla="val 8000"/>
            </a:avLst>
          </a:prstGeom>
          <a:solidFill>
            <a:srgbClr val="daf1e4"/>
          </a:solidFill>
          <a:ln w="15875">
            <a:solidFill>
              <a:srgbClr val="1f9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Role IAM (EC2Role) — moindre privilege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Uniquement SSM + agent CloudWatch  •  aucune politique administrateur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18"/>
          <p:cNvSpPr/>
          <p:nvPr/>
        </p:nvSpPr>
        <p:spPr>
          <a:xfrm>
            <a:off x="1371600" y="3840480"/>
            <a:ext cx="776880" cy="776880"/>
          </a:xfrm>
          <a:prstGeom prst="ellipse">
            <a:avLst/>
          </a:prstGeom>
          <a:solidFill>
            <a:srgbClr val="ece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c4fff"/>
                </a:solidFill>
                <a:effectLst/>
                <a:uFillTx/>
                <a:latin typeface="Calibri"/>
              </a:rPr>
              <a:t>IAM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9"/>
          <p:cNvSpPr/>
          <p:nvPr/>
        </p:nvSpPr>
        <p:spPr>
          <a:xfrm>
            <a:off x="2788920" y="4892040"/>
            <a:ext cx="8732160" cy="639720"/>
          </a:xfrm>
          <a:prstGeom prst="roundRect">
            <a:avLst>
              <a:gd name="adj" fmla="val 3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 base RDS n'est JAMAIS accessible directement depuis Internet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0"/>
          <p:cNvSpPr/>
          <p:nvPr/>
        </p:nvSpPr>
        <p:spPr>
          <a:xfrm>
            <a:off x="640080" y="49834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lang="en-US" sz="11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Chaine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de filtrage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alb-asg.yaml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Load Balancer et application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Down Arrow 7"/>
          <p:cNvSpPr/>
          <p:nvPr/>
        </p:nvSpPr>
        <p:spPr>
          <a:xfrm>
            <a:off x="5760720" y="1234440"/>
            <a:ext cx="639720" cy="502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3657600" y="12801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Internet :80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9"/>
          <p:cNvSpPr/>
          <p:nvPr/>
        </p:nvSpPr>
        <p:spPr>
          <a:xfrm>
            <a:off x="4480560" y="1828800"/>
            <a:ext cx="3200040" cy="8683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Application Load Balancer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0"/>
          <p:cNvSpPr/>
          <p:nvPr/>
        </p:nvSpPr>
        <p:spPr>
          <a:xfrm>
            <a:off x="4160520" y="2788920"/>
            <a:ext cx="3840120" cy="502560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5875">
            <a:solidFill>
              <a:srgbClr val="ed71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Target Group  •  health check /health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1"/>
          <p:cNvSpPr/>
          <p:nvPr/>
        </p:nvSpPr>
        <p:spPr>
          <a:xfrm>
            <a:off x="1965960" y="4160520"/>
            <a:ext cx="2194200" cy="105120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 t3.micro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Flask + gunicorn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Connector 12"/>
          <p:cNvCxnSpPr/>
          <p:nvPr/>
        </p:nvCxnSpPr>
        <p:spPr>
          <a:xfrm flipH="1">
            <a:off x="3062880" y="3291840"/>
            <a:ext cx="3018240" cy="869040"/>
          </a:xfrm>
          <a:prstGeom prst="straightConnector1">
            <a:avLst/>
          </a:prstGeom>
          <a:ln>
            <a:solidFill>
              <a:srgbClr val="232f3e"/>
            </a:solidFill>
            <a:round/>
            <a:tailEnd len="med" type="triangle" w="med"/>
          </a:ln>
        </p:spPr>
      </p:cxnSp>
      <p:sp>
        <p:nvSpPr>
          <p:cNvPr id="190" name="Rounded Rectangle 13"/>
          <p:cNvSpPr/>
          <p:nvPr/>
        </p:nvSpPr>
        <p:spPr>
          <a:xfrm>
            <a:off x="4983480" y="4160520"/>
            <a:ext cx="2194200" cy="105120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 t3.micro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Flask + gunicorn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Connector 14"/>
          <p:cNvCxnSpPr/>
          <p:nvPr/>
        </p:nvCxnSpPr>
        <p:spPr>
          <a:xfrm>
            <a:off x="6080760" y="3291840"/>
            <a:ext cx="360" cy="869040"/>
          </a:xfrm>
          <a:prstGeom prst="straightConnector1">
            <a:avLst/>
          </a:prstGeom>
          <a:ln>
            <a:solidFill>
              <a:srgbClr val="232f3e"/>
            </a:solidFill>
            <a:round/>
            <a:tailEnd len="med" type="triangle" w="med"/>
          </a:ln>
        </p:spPr>
      </p:cxnSp>
      <p:sp>
        <p:nvSpPr>
          <p:cNvPr id="192" name="Rounded Rectangle 15"/>
          <p:cNvSpPr/>
          <p:nvPr/>
        </p:nvSpPr>
        <p:spPr>
          <a:xfrm>
            <a:off x="8001000" y="4160520"/>
            <a:ext cx="2194200" cy="1051200"/>
          </a:xfrm>
          <a:prstGeom prst="roundRect">
            <a:avLst>
              <a:gd name="adj" fmla="val 8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 t3.micro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Flask + gunicorn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Connector 16"/>
          <p:cNvCxnSpPr/>
          <p:nvPr/>
        </p:nvCxnSpPr>
        <p:spPr>
          <a:xfrm>
            <a:off x="6080760" y="3291840"/>
            <a:ext cx="3017880" cy="869040"/>
          </a:xfrm>
          <a:prstGeom prst="straightConnector1">
            <a:avLst/>
          </a:prstGeom>
          <a:ln>
            <a:solidFill>
              <a:srgbClr val="232f3e"/>
            </a:solidFill>
            <a:round/>
            <a:tailEnd len="med" type="triangle" w="med"/>
          </a:ln>
        </p:spPr>
      </p:cxnSp>
      <p:sp>
        <p:nvSpPr>
          <p:cNvPr id="194" name="TextBox 17"/>
          <p:cNvSpPr/>
          <p:nvPr/>
        </p:nvSpPr>
        <p:spPr>
          <a:xfrm>
            <a:off x="685800" y="54864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L'ALB repartit le trafic entre les instances saines, reparties dans les sous-reseaux prives sur 2 AZ.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alb-asg.yaml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 Scaling base sur le CPU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7"/>
          <p:cNvSpPr/>
          <p:nvPr/>
        </p:nvSpPr>
        <p:spPr>
          <a:xfrm>
            <a:off x="1463040" y="2651760"/>
            <a:ext cx="2770200" cy="731160"/>
          </a:xfrm>
          <a:prstGeom prst="rect">
            <a:avLst/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8"/>
          <p:cNvSpPr/>
          <p:nvPr/>
        </p:nvSpPr>
        <p:spPr>
          <a:xfrm>
            <a:off x="4233600" y="2651760"/>
            <a:ext cx="3693960" cy="731160"/>
          </a:xfrm>
          <a:prstGeom prst="rect">
            <a:avLst/>
          </a:prstGeom>
          <a:solidFill>
            <a:srgbClr val="b7bf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7927920" y="2651760"/>
            <a:ext cx="2770200" cy="731160"/>
          </a:xfrm>
          <a:prstGeom prst="rect">
            <a:avLst/>
          </a:prstGeom>
          <a:solidFill>
            <a:srgbClr val="d645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34290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0%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3867840" y="34290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9b57"/>
                </a:solidFill>
                <a:effectLst/>
                <a:uFillTx/>
                <a:latin typeface="Calibri"/>
              </a:rPr>
              <a:t>30%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7562160" y="34290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64541"/>
                </a:solidFill>
                <a:effectLst/>
                <a:uFillTx/>
                <a:latin typeface="Calibri"/>
              </a:rPr>
              <a:t>70%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10332720" y="34290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100%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1463040" y="2240280"/>
            <a:ext cx="277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9b57"/>
                </a:solidFill>
                <a:effectLst/>
                <a:uFillTx/>
                <a:latin typeface="Calibri"/>
              </a:rPr>
              <a:t>Zone basse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4233600" y="2240280"/>
            <a:ext cx="369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Zone stable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6"/>
          <p:cNvSpPr/>
          <p:nvPr/>
        </p:nvSpPr>
        <p:spPr>
          <a:xfrm>
            <a:off x="7927920" y="2240280"/>
            <a:ext cx="277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64541"/>
                </a:solidFill>
                <a:effectLst/>
                <a:uFillTx/>
                <a:latin typeface="Calibri"/>
              </a:rPr>
              <a:t>Zone haute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7"/>
          <p:cNvSpPr/>
          <p:nvPr/>
        </p:nvSpPr>
        <p:spPr>
          <a:xfrm>
            <a:off x="1463040" y="4023360"/>
            <a:ext cx="4571640" cy="868320"/>
          </a:xfrm>
          <a:prstGeom prst="roundRect">
            <a:avLst>
              <a:gd name="adj" fmla="val 8000"/>
            </a:avLst>
          </a:prstGeom>
          <a:solidFill>
            <a:srgbClr val="dcf3e5"/>
          </a:solidFill>
          <a:ln w="15875">
            <a:solidFill>
              <a:srgbClr val="1f9b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CPU &lt; 30 %  →  Scale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retire 1 instance (minimum 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8"/>
          <p:cNvSpPr/>
          <p:nvPr/>
        </p:nvSpPr>
        <p:spPr>
          <a:xfrm>
            <a:off x="6309360" y="4023360"/>
            <a:ext cx="4571640" cy="868320"/>
          </a:xfrm>
          <a:prstGeom prst="roundRect">
            <a:avLst>
              <a:gd name="adj" fmla="val 8000"/>
            </a:avLst>
          </a:prstGeom>
          <a:solidFill>
            <a:srgbClr val="fadedd"/>
          </a:solidFill>
          <a:ln w="15875">
            <a:solidFill>
              <a:srgbClr val="d645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CPU &gt; 70 %  →  Scale 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ajoute 1 instance (maximum 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685800" y="52120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Realise simplement : 2 politiques de scaling + 2 alarmes CloudWatch. L'ASG remplace aussi toute instance en panne.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rds.yaml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 de donnees RDS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7"/>
          <p:cNvSpPr/>
          <p:nvPr/>
        </p:nvSpPr>
        <p:spPr>
          <a:xfrm>
            <a:off x="1005840" y="2286000"/>
            <a:ext cx="2285640" cy="1005480"/>
          </a:xfrm>
          <a:prstGeom prst="roundRect">
            <a:avLst>
              <a:gd name="adj" fmla="val 10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 Flask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8"/>
          <p:cNvSpPr/>
          <p:nvPr/>
        </p:nvSpPr>
        <p:spPr>
          <a:xfrm>
            <a:off x="4754880" y="1874520"/>
            <a:ext cx="6309000" cy="1965600"/>
          </a:xfrm>
          <a:prstGeom prst="roundRect">
            <a:avLst>
              <a:gd name="adj" fmla="val 4000"/>
            </a:avLst>
          </a:prstGeom>
          <a:solidFill>
            <a:srgbClr val="dfe6fb"/>
          </a:solidFill>
          <a:ln w="19050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4937760" y="1965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e5fe8"/>
                </a:solidFill>
                <a:effectLst/>
                <a:uFillTx/>
                <a:latin typeface="Calibri"/>
              </a:rPr>
              <a:t>Sous-reseaux prives (2 AZ)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0"/>
          <p:cNvSpPr/>
          <p:nvPr/>
        </p:nvSpPr>
        <p:spPr>
          <a:xfrm>
            <a:off x="6949440" y="2423160"/>
            <a:ext cx="3291480" cy="1051200"/>
          </a:xfrm>
          <a:prstGeom prst="roundRect">
            <a:avLst>
              <a:gd name="adj" fmla="val 10000"/>
            </a:avLst>
          </a:prstGeom>
          <a:solidFill>
            <a:srgbClr val="2e5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Amazon RDS PostgreSQL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db.t4g.micro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1"/>
          <p:cNvSpPr/>
          <p:nvPr/>
        </p:nvSpPr>
        <p:spPr>
          <a:xfrm>
            <a:off x="4983480" y="3246120"/>
            <a:ext cx="1828440" cy="456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1" u="none" strike="noStrike">
                <a:solidFill>
                  <a:srgbClr val="2e5fe8"/>
                </a:solidFill>
                <a:effectLst/>
                <a:uFillTx/>
                <a:latin typeface="Calibri"/>
              </a:rPr>
              <a:t>Publicly = 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onnector 12"/>
          <p:cNvCxnSpPr/>
          <p:nvPr/>
        </p:nvCxnSpPr>
        <p:spPr>
          <a:xfrm>
            <a:off x="3291840" y="2788920"/>
            <a:ext cx="3657960" cy="137520"/>
          </a:xfrm>
          <a:prstGeom prst="straightConnector1">
            <a:avLst/>
          </a:prstGeom>
          <a:ln w="28575">
            <a:solidFill>
              <a:srgbClr val="232f3e"/>
            </a:solidFill>
            <a:round/>
            <a:tailEnd len="med" type="triangle" w="med"/>
          </a:ln>
        </p:spPr>
      </p:cxnSp>
      <p:sp>
        <p:nvSpPr>
          <p:cNvPr id="226" name="TextBox 13"/>
          <p:cNvSpPr/>
          <p:nvPr/>
        </p:nvSpPr>
        <p:spPr>
          <a:xfrm>
            <a:off x="3383280" y="23774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connexion :5432 (via DatabaseSG)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4"/>
          <p:cNvSpPr/>
          <p:nvPr/>
        </p:nvSpPr>
        <p:spPr>
          <a:xfrm>
            <a:off x="685800" y="41605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Operations CRUD de l'application 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5"/>
          <p:cNvSpPr/>
          <p:nvPr/>
        </p:nvSpPr>
        <p:spPr>
          <a:xfrm>
            <a:off x="822960" y="4617720"/>
            <a:ext cx="2377080" cy="7768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 — Create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creer un element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6"/>
          <p:cNvSpPr/>
          <p:nvPr/>
        </p:nvSpPr>
        <p:spPr>
          <a:xfrm>
            <a:off x="3474720" y="4617720"/>
            <a:ext cx="2377080" cy="7768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 — Read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lister un element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7"/>
          <p:cNvSpPr/>
          <p:nvPr/>
        </p:nvSpPr>
        <p:spPr>
          <a:xfrm>
            <a:off x="6126480" y="4617720"/>
            <a:ext cx="2377080" cy="7768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U — Update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modifier un element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8"/>
          <p:cNvSpPr/>
          <p:nvPr/>
        </p:nvSpPr>
        <p:spPr>
          <a:xfrm>
            <a:off x="8778240" y="4617720"/>
            <a:ext cx="2377080" cy="7768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5875">
            <a:solidFill>
              <a:srgbClr val="2e5f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D — Delete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supprimer un element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9"/>
          <p:cNvSpPr/>
          <p:nvPr/>
        </p:nvSpPr>
        <p:spPr>
          <a:xfrm>
            <a:off x="685800" y="562356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Mot de passe fourni au deploiement (parametre NoEcho, jamais ecrit en clair dans le code).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502920" y="109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monitoring.yaml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457200" y="31104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Supervision : CloudWatch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7"/>
          <p:cNvSpPr/>
          <p:nvPr/>
        </p:nvSpPr>
        <p:spPr>
          <a:xfrm>
            <a:off x="822960" y="2103120"/>
            <a:ext cx="2285640" cy="914040"/>
          </a:xfrm>
          <a:prstGeom prst="roundRect">
            <a:avLst>
              <a:gd name="adj" fmla="val 10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#1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agent CloudWatch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8"/>
          <p:cNvSpPr/>
          <p:nvPr/>
        </p:nvSpPr>
        <p:spPr>
          <a:xfrm>
            <a:off x="822960" y="3383280"/>
            <a:ext cx="2285640" cy="914040"/>
          </a:xfrm>
          <a:prstGeom prst="roundRect">
            <a:avLst>
              <a:gd name="adj" fmla="val 10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EC2 #2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agent CloudWatch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9"/>
          <p:cNvSpPr/>
          <p:nvPr/>
        </p:nvSpPr>
        <p:spPr>
          <a:xfrm>
            <a:off x="4754880" y="2514600"/>
            <a:ext cx="2651400" cy="1371240"/>
          </a:xfrm>
          <a:prstGeom prst="roundRect">
            <a:avLst>
              <a:gd name="adj" fmla="val 10000"/>
            </a:avLst>
          </a:prstGeom>
          <a:solidFill>
            <a:srgbClr val="d615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Amazon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CloudWatch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10"/>
          <p:cNvCxnSpPr/>
          <p:nvPr/>
        </p:nvCxnSpPr>
        <p:spPr>
          <a:xfrm>
            <a:off x="3108960" y="2560320"/>
            <a:ext cx="1646280" cy="640440"/>
          </a:xfrm>
          <a:prstGeom prst="straightConnector1">
            <a:avLst/>
          </a:prstGeom>
          <a:ln>
            <a:solidFill>
              <a:srgbClr val="232f3e"/>
            </a:solidFill>
            <a:round/>
            <a:tailEnd len="med" type="triangle" w="med"/>
          </a:ln>
        </p:spPr>
      </p:cxnSp>
      <p:cxnSp>
        <p:nvCxnSpPr>
          <p:cNvPr id="243" name="Connector 11"/>
          <p:cNvCxnSpPr/>
          <p:nvPr/>
        </p:nvCxnSpPr>
        <p:spPr>
          <a:xfrm flipV="1">
            <a:off x="3108960" y="3200400"/>
            <a:ext cx="1646280" cy="640440"/>
          </a:xfrm>
          <a:prstGeom prst="straightConnector1">
            <a:avLst/>
          </a:prstGeom>
          <a:ln>
            <a:solidFill>
              <a:srgbClr val="232f3e"/>
            </a:solidFill>
            <a:round/>
            <a:tailEnd len="med" type="triangle" w="med"/>
          </a:ln>
        </p:spPr>
      </p:cxnSp>
      <p:sp>
        <p:nvSpPr>
          <p:cNvPr id="244" name="TextBox 12"/>
          <p:cNvSpPr/>
          <p:nvPr/>
        </p:nvSpPr>
        <p:spPr>
          <a:xfrm>
            <a:off x="3200400" y="2240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logs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3200400" y="38862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metriques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4"/>
          <p:cNvSpPr/>
          <p:nvPr/>
        </p:nvSpPr>
        <p:spPr>
          <a:xfrm>
            <a:off x="8595360" y="2240280"/>
            <a:ext cx="2925720" cy="639720"/>
          </a:xfrm>
          <a:prstGeom prst="roundRect">
            <a:avLst>
              <a:gd name="adj" fmla="val 20000"/>
            </a:avLst>
          </a:prstGeom>
          <a:solidFill>
            <a:srgbClr val="fad9ea"/>
          </a:solidFill>
          <a:ln w="15875">
            <a:solidFill>
              <a:srgbClr val="d615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Log group  /projet1/app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7" name="Connector 15"/>
          <p:cNvCxnSpPr/>
          <p:nvPr/>
        </p:nvCxnSpPr>
        <p:spPr>
          <a:xfrm flipV="1">
            <a:off x="7406640" y="2560320"/>
            <a:ext cx="1189080" cy="640440"/>
          </a:xfrm>
          <a:prstGeom prst="straightConnector1">
            <a:avLst/>
          </a:prstGeom>
          <a:ln w="22225">
            <a:solidFill>
              <a:srgbClr val="d6156f"/>
            </a:solidFill>
            <a:round/>
            <a:tailEnd len="med" type="triangle" w="med"/>
          </a:ln>
        </p:spPr>
      </p:cxnSp>
      <p:sp>
        <p:nvSpPr>
          <p:cNvPr id="248" name="Rounded Rectangle 16"/>
          <p:cNvSpPr/>
          <p:nvPr/>
        </p:nvSpPr>
        <p:spPr>
          <a:xfrm>
            <a:off x="8595360" y="3108960"/>
            <a:ext cx="2925720" cy="639720"/>
          </a:xfrm>
          <a:prstGeom prst="roundRect">
            <a:avLst>
              <a:gd name="adj" fmla="val 20000"/>
            </a:avLst>
          </a:prstGeom>
          <a:solidFill>
            <a:srgbClr val="fadedd"/>
          </a:solidFill>
          <a:ln w="15875">
            <a:solidFill>
              <a:srgbClr val="d645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Alarme CPU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Connector 17"/>
          <p:cNvCxnSpPr/>
          <p:nvPr/>
        </p:nvCxnSpPr>
        <p:spPr>
          <a:xfrm>
            <a:off x="7406640" y="3200400"/>
            <a:ext cx="1189080" cy="228960"/>
          </a:xfrm>
          <a:prstGeom prst="straightConnector1">
            <a:avLst/>
          </a:prstGeom>
          <a:ln w="22225">
            <a:solidFill>
              <a:srgbClr val="d64541"/>
            </a:solidFill>
            <a:round/>
            <a:tailEnd len="med" type="triangle" w="med"/>
          </a:ln>
        </p:spPr>
      </p:cxnSp>
      <p:sp>
        <p:nvSpPr>
          <p:cNvPr id="250" name="Rounded Rectangle 18"/>
          <p:cNvSpPr/>
          <p:nvPr/>
        </p:nvSpPr>
        <p:spPr>
          <a:xfrm>
            <a:off x="8595360" y="3977640"/>
            <a:ext cx="2925720" cy="639720"/>
          </a:xfrm>
          <a:prstGeom prst="roundRect">
            <a:avLst>
              <a:gd name="adj" fmla="val 20000"/>
            </a:avLst>
          </a:prstGeom>
          <a:solidFill>
            <a:srgbClr val="fadedd"/>
          </a:solidFill>
          <a:ln w="15875">
            <a:solidFill>
              <a:srgbClr val="d645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Alarme Status Check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ctor 19"/>
          <p:cNvCxnSpPr/>
          <p:nvPr/>
        </p:nvCxnSpPr>
        <p:spPr>
          <a:xfrm>
            <a:off x="7406640" y="3200400"/>
            <a:ext cx="1189080" cy="1097280"/>
          </a:xfrm>
          <a:prstGeom prst="straightConnector1">
            <a:avLst/>
          </a:prstGeom>
          <a:ln w="22225">
            <a:solidFill>
              <a:srgbClr val="d64541"/>
            </a:solidFill>
            <a:round/>
            <a:tailEnd len="med" type="triangle" w="med"/>
          </a:ln>
        </p:spPr>
      </p:cxnSp>
      <p:sp>
        <p:nvSpPr>
          <p:cNvPr id="252" name="TextBox 20"/>
          <p:cNvSpPr/>
          <p:nvPr/>
        </p:nvSpPr>
        <p:spPr>
          <a:xfrm>
            <a:off x="685800" y="539496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Les journaux de l'app et l'etat des instances sont centralises. Les alarmes CPU pilotent aussi l'Auto Scaling.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 as Code (CloudFormation)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6"/>
          <p:cNvSpPr/>
          <p:nvPr/>
        </p:nvSpPr>
        <p:spPr>
          <a:xfrm>
            <a:off x="685800" y="12344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Le projet est decoupe en 5 stacks deployes dans l'ordre 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Chevron 7"/>
          <p:cNvSpPr/>
          <p:nvPr/>
        </p:nvSpPr>
        <p:spPr>
          <a:xfrm>
            <a:off x="685800" y="1965960"/>
            <a:ext cx="2285640" cy="959760"/>
          </a:xfrm>
          <a:prstGeom prst="chevron">
            <a:avLst>
              <a:gd name="adj" fmla="val 50000"/>
            </a:avLst>
          </a:prstGeom>
          <a:solidFill>
            <a:srgbClr val="8c4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vpc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reseau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Chevron 8"/>
          <p:cNvSpPr/>
          <p:nvPr/>
        </p:nvSpPr>
        <p:spPr>
          <a:xfrm>
            <a:off x="2770560" y="1965960"/>
            <a:ext cx="2285640" cy="959760"/>
          </a:xfrm>
          <a:prstGeom prst="chevron">
            <a:avLst>
              <a:gd name="adj" fmla="val 50000"/>
            </a:avLst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pare-feux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Chevron 9"/>
          <p:cNvSpPr/>
          <p:nvPr/>
        </p:nvSpPr>
        <p:spPr>
          <a:xfrm>
            <a:off x="4855320" y="1965960"/>
            <a:ext cx="2285640" cy="959760"/>
          </a:xfrm>
          <a:prstGeom prst="chevron">
            <a:avLst>
              <a:gd name="adj" fmla="val 50000"/>
            </a:avLst>
          </a:prstGeom>
          <a:solidFill>
            <a:srgbClr val="2e5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Chevron 10"/>
          <p:cNvSpPr/>
          <p:nvPr/>
        </p:nvSpPr>
        <p:spPr>
          <a:xfrm>
            <a:off x="6940440" y="1965960"/>
            <a:ext cx="2285640" cy="959760"/>
          </a:xfrm>
          <a:prstGeom prst="chevron">
            <a:avLst>
              <a:gd name="adj" fmla="val 50000"/>
            </a:avLst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alb-asg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ALB+EC2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Chevron 11"/>
          <p:cNvSpPr/>
          <p:nvPr/>
        </p:nvSpPr>
        <p:spPr>
          <a:xfrm>
            <a:off x="9025200" y="1965960"/>
            <a:ext cx="2285640" cy="959760"/>
          </a:xfrm>
          <a:prstGeom prst="chevron">
            <a:avLst>
              <a:gd name="adj" fmla="val 50000"/>
            </a:avLst>
          </a:prstGeom>
          <a:solidFill>
            <a:srgbClr val="d615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monitoring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CloudWatch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2"/>
          <p:cNvSpPr/>
          <p:nvPr/>
        </p:nvSpPr>
        <p:spPr>
          <a:xfrm>
            <a:off x="685800" y="32004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Les stacks se transmettent leurs informations via Export / ImportValue (ex. le VPC fournit ses subnets aux suivants).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3"/>
          <p:cNvSpPr/>
          <p:nvPr/>
        </p:nvSpPr>
        <p:spPr>
          <a:xfrm>
            <a:off x="822960" y="3977640"/>
            <a:ext cx="10560960" cy="1416960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19050">
            <a:solidFill>
              <a:srgbClr val="ff9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4"/>
          <p:cNvSpPr/>
          <p:nvPr/>
        </p:nvSpPr>
        <p:spPr>
          <a:xfrm>
            <a:off x="1051560" y="41148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Avantages de l'approche Infrastructure as 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Oval 15"/>
          <p:cNvSpPr/>
          <p:nvPr/>
        </p:nvSpPr>
        <p:spPr>
          <a:xfrm>
            <a:off x="1051560" y="4572000"/>
            <a:ext cx="456840" cy="45684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1645920" y="45262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Reproductible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7"/>
          <p:cNvSpPr/>
          <p:nvPr/>
        </p:nvSpPr>
        <p:spPr>
          <a:xfrm>
            <a:off x="1645920" y="48463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recreer toute l'infra en quelques minutes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Oval 18"/>
          <p:cNvSpPr/>
          <p:nvPr/>
        </p:nvSpPr>
        <p:spPr>
          <a:xfrm>
            <a:off x="4480560" y="4572000"/>
            <a:ext cx="456840" cy="45684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9"/>
          <p:cNvSpPr/>
          <p:nvPr/>
        </p:nvSpPr>
        <p:spPr>
          <a:xfrm>
            <a:off x="5074920" y="45262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Versionne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0"/>
          <p:cNvSpPr/>
          <p:nvPr/>
        </p:nvSpPr>
        <p:spPr>
          <a:xfrm>
            <a:off x="5074920" y="48463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le code est suivi sur GitHub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Oval 21"/>
          <p:cNvSpPr/>
          <p:nvPr/>
        </p:nvSpPr>
        <p:spPr>
          <a:xfrm>
            <a:off x="7909560" y="4572000"/>
            <a:ext cx="456840" cy="45684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2"/>
          <p:cNvSpPr/>
          <p:nvPr/>
        </p:nvSpPr>
        <p:spPr>
          <a:xfrm>
            <a:off x="8503920" y="45262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Ephemere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3"/>
          <p:cNvSpPr/>
          <p:nvPr/>
        </p:nvSpPr>
        <p:spPr>
          <a:xfrm>
            <a:off x="8503920" y="48463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tout supprimer en une action (Delete stack)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Etiquetage : tags obligatoires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685800" y="12344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Les deux tags demandes sont appliques a TOUTES les ressources (critere n°1) 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7"/>
          <p:cNvSpPr/>
          <p:nvPr/>
        </p:nvSpPr>
        <p:spPr>
          <a:xfrm>
            <a:off x="1463040" y="1874520"/>
            <a:ext cx="4205880" cy="868320"/>
          </a:xfrm>
          <a:prstGeom prst="roundRect">
            <a:avLst>
              <a:gd name="adj" fmla="val 30000"/>
            </a:avLst>
          </a:prstGeom>
          <a:solidFill>
            <a:srgbClr val="ece4ff"/>
          </a:solidFill>
          <a:ln w="15875">
            <a:solidFill>
              <a:srgbClr val="8c4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supnum:Lab = Project-1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8"/>
          <p:cNvSpPr/>
          <p:nvPr/>
        </p:nvSpPr>
        <p:spPr>
          <a:xfrm>
            <a:off x="6217920" y="1874520"/>
            <a:ext cx="5120280" cy="868320"/>
          </a:xfrm>
          <a:prstGeom prst="roundRect">
            <a:avLst>
              <a:gd name="adj" fmla="val 30000"/>
            </a:avLst>
          </a:prstGeom>
          <a:solidFill>
            <a:srgbClr val="fbe7d3"/>
          </a:solidFill>
          <a:ln w="15875">
            <a:solidFill>
              <a:srgbClr val="ed71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supnum:Group = GROUP-22053-22086-22014-25240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9"/>
          <p:cNvSpPr/>
          <p:nvPr/>
        </p:nvSpPr>
        <p:spPr>
          <a:xfrm>
            <a:off x="673560" y="31089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Oval 10"/>
          <p:cNvSpPr/>
          <p:nvPr/>
        </p:nvSpPr>
        <p:spPr>
          <a:xfrm>
            <a:off x="783360" y="322776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1176480" y="31089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VPC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12"/>
          <p:cNvSpPr/>
          <p:nvPr/>
        </p:nvSpPr>
        <p:spPr>
          <a:xfrm>
            <a:off x="2858760" y="31089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Oval 13"/>
          <p:cNvSpPr/>
          <p:nvPr/>
        </p:nvSpPr>
        <p:spPr>
          <a:xfrm>
            <a:off x="2968560" y="322776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4"/>
          <p:cNvSpPr/>
          <p:nvPr/>
        </p:nvSpPr>
        <p:spPr>
          <a:xfrm>
            <a:off x="3361680" y="31089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Subnets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5"/>
          <p:cNvSpPr/>
          <p:nvPr/>
        </p:nvSpPr>
        <p:spPr>
          <a:xfrm>
            <a:off x="5044320" y="31089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Oval 16"/>
          <p:cNvSpPr/>
          <p:nvPr/>
        </p:nvSpPr>
        <p:spPr>
          <a:xfrm>
            <a:off x="5154120" y="322776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5547240" y="31089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Route Tables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18"/>
          <p:cNvSpPr/>
          <p:nvPr/>
        </p:nvSpPr>
        <p:spPr>
          <a:xfrm>
            <a:off x="7229880" y="31089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Oval 19"/>
          <p:cNvSpPr/>
          <p:nvPr/>
        </p:nvSpPr>
        <p:spPr>
          <a:xfrm>
            <a:off x="7339320" y="322776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0"/>
          <p:cNvSpPr/>
          <p:nvPr/>
        </p:nvSpPr>
        <p:spPr>
          <a:xfrm>
            <a:off x="7732800" y="31089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NAT Gateway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1"/>
          <p:cNvSpPr/>
          <p:nvPr/>
        </p:nvSpPr>
        <p:spPr>
          <a:xfrm>
            <a:off x="9415080" y="31089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Oval 22"/>
          <p:cNvSpPr/>
          <p:nvPr/>
        </p:nvSpPr>
        <p:spPr>
          <a:xfrm>
            <a:off x="9524880" y="322776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9918000" y="31089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Security Groups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24"/>
          <p:cNvSpPr/>
          <p:nvPr/>
        </p:nvSpPr>
        <p:spPr>
          <a:xfrm>
            <a:off x="673560" y="38037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Oval 25"/>
          <p:cNvSpPr/>
          <p:nvPr/>
        </p:nvSpPr>
        <p:spPr>
          <a:xfrm>
            <a:off x="783360" y="39229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6"/>
          <p:cNvSpPr/>
          <p:nvPr/>
        </p:nvSpPr>
        <p:spPr>
          <a:xfrm>
            <a:off x="1176480" y="38037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IAM Role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27"/>
          <p:cNvSpPr/>
          <p:nvPr/>
        </p:nvSpPr>
        <p:spPr>
          <a:xfrm>
            <a:off x="2858760" y="38037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28"/>
          <p:cNvSpPr/>
          <p:nvPr/>
        </p:nvSpPr>
        <p:spPr>
          <a:xfrm>
            <a:off x="2968560" y="39229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9"/>
          <p:cNvSpPr/>
          <p:nvPr/>
        </p:nvSpPr>
        <p:spPr>
          <a:xfrm>
            <a:off x="3361680" y="38037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ALB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30"/>
          <p:cNvSpPr/>
          <p:nvPr/>
        </p:nvSpPr>
        <p:spPr>
          <a:xfrm>
            <a:off x="5044320" y="38037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Oval 31"/>
          <p:cNvSpPr/>
          <p:nvPr/>
        </p:nvSpPr>
        <p:spPr>
          <a:xfrm>
            <a:off x="5154120" y="39229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2"/>
          <p:cNvSpPr/>
          <p:nvPr/>
        </p:nvSpPr>
        <p:spPr>
          <a:xfrm>
            <a:off x="5547240" y="38037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Target Group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33"/>
          <p:cNvSpPr/>
          <p:nvPr/>
        </p:nvSpPr>
        <p:spPr>
          <a:xfrm>
            <a:off x="7229880" y="38037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Oval 34"/>
          <p:cNvSpPr/>
          <p:nvPr/>
        </p:nvSpPr>
        <p:spPr>
          <a:xfrm>
            <a:off x="7339320" y="39229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5"/>
          <p:cNvSpPr/>
          <p:nvPr/>
        </p:nvSpPr>
        <p:spPr>
          <a:xfrm>
            <a:off x="7732800" y="38037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Launch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36"/>
          <p:cNvSpPr/>
          <p:nvPr/>
        </p:nvSpPr>
        <p:spPr>
          <a:xfrm>
            <a:off x="9415080" y="380376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Oval 37"/>
          <p:cNvSpPr/>
          <p:nvPr/>
        </p:nvSpPr>
        <p:spPr>
          <a:xfrm>
            <a:off x="9524880" y="39229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8"/>
          <p:cNvSpPr/>
          <p:nvPr/>
        </p:nvSpPr>
        <p:spPr>
          <a:xfrm>
            <a:off x="9918000" y="380376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Auto Scaling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ounded Rectangle 39"/>
          <p:cNvSpPr/>
          <p:nvPr/>
        </p:nvSpPr>
        <p:spPr>
          <a:xfrm>
            <a:off x="673560" y="449892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Oval 40"/>
          <p:cNvSpPr/>
          <p:nvPr/>
        </p:nvSpPr>
        <p:spPr>
          <a:xfrm>
            <a:off x="783360" y="46177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41"/>
          <p:cNvSpPr/>
          <p:nvPr/>
        </p:nvSpPr>
        <p:spPr>
          <a:xfrm>
            <a:off x="1176480" y="44989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EC2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42"/>
          <p:cNvSpPr/>
          <p:nvPr/>
        </p:nvSpPr>
        <p:spPr>
          <a:xfrm>
            <a:off x="2858760" y="449892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Oval 43"/>
          <p:cNvSpPr/>
          <p:nvPr/>
        </p:nvSpPr>
        <p:spPr>
          <a:xfrm>
            <a:off x="2968560" y="46177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44"/>
          <p:cNvSpPr/>
          <p:nvPr/>
        </p:nvSpPr>
        <p:spPr>
          <a:xfrm>
            <a:off x="3361680" y="44989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45"/>
          <p:cNvSpPr/>
          <p:nvPr/>
        </p:nvSpPr>
        <p:spPr>
          <a:xfrm>
            <a:off x="5044320" y="4498920"/>
            <a:ext cx="2102760" cy="54828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5875">
            <a:solidFill>
              <a:srgbClr val="d8de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Oval 46"/>
          <p:cNvSpPr/>
          <p:nvPr/>
        </p:nvSpPr>
        <p:spPr>
          <a:xfrm>
            <a:off x="5154120" y="4617720"/>
            <a:ext cx="310680" cy="310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47"/>
          <p:cNvSpPr/>
          <p:nvPr/>
        </p:nvSpPr>
        <p:spPr>
          <a:xfrm>
            <a:off x="5547240" y="44989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CloudWatch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48"/>
          <p:cNvSpPr/>
          <p:nvPr/>
        </p:nvSpPr>
        <p:spPr>
          <a:xfrm>
            <a:off x="685800" y="57607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Retrouvables d'un coup dans le Tag Editor en filtrant sur supnum:Group.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Optimisation des couts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6"/>
          <p:cNvSpPr/>
          <p:nvPr/>
        </p:nvSpPr>
        <p:spPr>
          <a:xfrm>
            <a:off x="685800" y="12344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Uniquement des ressources gratuites ou tres peu couteuses 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7"/>
          <p:cNvSpPr/>
          <p:nvPr/>
        </p:nvSpPr>
        <p:spPr>
          <a:xfrm>
            <a:off x="700920" y="1965960"/>
            <a:ext cx="3382920" cy="2377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8"/>
          <p:cNvSpPr/>
          <p:nvPr/>
        </p:nvSpPr>
        <p:spPr>
          <a:xfrm>
            <a:off x="700920" y="1965960"/>
            <a:ext cx="3382920" cy="145800"/>
          </a:xfrm>
          <a:prstGeom prst="rect">
            <a:avLst/>
          </a:prstGeom>
          <a:solidFill>
            <a:srgbClr val="ed7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9"/>
          <p:cNvSpPr/>
          <p:nvPr/>
        </p:nvSpPr>
        <p:spPr>
          <a:xfrm>
            <a:off x="883800" y="22860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EC2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0"/>
          <p:cNvSpPr/>
          <p:nvPr/>
        </p:nvSpPr>
        <p:spPr>
          <a:xfrm>
            <a:off x="1203840" y="2834640"/>
            <a:ext cx="2377080" cy="548280"/>
          </a:xfrm>
          <a:prstGeom prst="roundRect">
            <a:avLst>
              <a:gd name="adj" fmla="val 20000"/>
            </a:avLst>
          </a:prstGeom>
          <a:solidFill>
            <a:srgbClr val="fbe7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ed7100"/>
                </a:solidFill>
                <a:effectLst/>
                <a:uFillTx/>
                <a:latin typeface="Calibri"/>
              </a:rPr>
              <a:t>t3.micro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1"/>
          <p:cNvSpPr/>
          <p:nvPr/>
        </p:nvSpPr>
        <p:spPr>
          <a:xfrm>
            <a:off x="883800" y="35661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Serveurs applicatifs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(Auto Scaling 2 a 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12"/>
          <p:cNvSpPr/>
          <p:nvPr/>
        </p:nvSpPr>
        <p:spPr>
          <a:xfrm>
            <a:off x="1615320" y="4206240"/>
            <a:ext cx="1554120" cy="383760"/>
          </a:xfrm>
          <a:prstGeom prst="roundRect">
            <a:avLst>
              <a:gd name="adj" fmla="val 50000"/>
            </a:avLst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free tier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3"/>
          <p:cNvSpPr/>
          <p:nvPr/>
        </p:nvSpPr>
        <p:spPr>
          <a:xfrm>
            <a:off x="4404240" y="1965960"/>
            <a:ext cx="3382920" cy="2377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14"/>
          <p:cNvSpPr/>
          <p:nvPr/>
        </p:nvSpPr>
        <p:spPr>
          <a:xfrm>
            <a:off x="4404240" y="1965960"/>
            <a:ext cx="3382920" cy="145800"/>
          </a:xfrm>
          <a:prstGeom prst="rect">
            <a:avLst/>
          </a:prstGeom>
          <a:solidFill>
            <a:srgbClr val="2e5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15"/>
          <p:cNvSpPr/>
          <p:nvPr/>
        </p:nvSpPr>
        <p:spPr>
          <a:xfrm>
            <a:off x="4587120" y="22860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16"/>
          <p:cNvSpPr/>
          <p:nvPr/>
        </p:nvSpPr>
        <p:spPr>
          <a:xfrm>
            <a:off x="4907160" y="2834640"/>
            <a:ext cx="2377080" cy="548280"/>
          </a:xfrm>
          <a:prstGeom prst="roundRect">
            <a:avLst>
              <a:gd name="adj" fmla="val 20000"/>
            </a:avLst>
          </a:prstGeom>
          <a:solidFill>
            <a:srgbClr val="dfe6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2e5fe8"/>
                </a:solidFill>
                <a:effectLst/>
                <a:uFillTx/>
                <a:latin typeface="Calibri"/>
              </a:rPr>
              <a:t>db.t4g.micro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7"/>
          <p:cNvSpPr/>
          <p:nvPr/>
        </p:nvSpPr>
        <p:spPr>
          <a:xfrm>
            <a:off x="4587120" y="35661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Base PostgreSQL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Single-AZ, 20 Go gp3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18"/>
          <p:cNvSpPr/>
          <p:nvPr/>
        </p:nvSpPr>
        <p:spPr>
          <a:xfrm>
            <a:off x="5318640" y="4206240"/>
            <a:ext cx="1554120" cy="383760"/>
          </a:xfrm>
          <a:prstGeom prst="roundRect">
            <a:avLst>
              <a:gd name="adj" fmla="val 50000"/>
            </a:avLst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free tier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ounded Rectangle 19"/>
          <p:cNvSpPr/>
          <p:nvPr/>
        </p:nvSpPr>
        <p:spPr>
          <a:xfrm>
            <a:off x="8107560" y="1965960"/>
            <a:ext cx="3382920" cy="2377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2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20"/>
          <p:cNvSpPr/>
          <p:nvPr/>
        </p:nvSpPr>
        <p:spPr>
          <a:xfrm>
            <a:off x="8107560" y="1965960"/>
            <a:ext cx="3382920" cy="145800"/>
          </a:xfrm>
          <a:prstGeom prst="rect">
            <a:avLst/>
          </a:prstGeom>
          <a:solidFill>
            <a:srgbClr val="8c4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21"/>
          <p:cNvSpPr/>
          <p:nvPr/>
        </p:nvSpPr>
        <p:spPr>
          <a:xfrm>
            <a:off x="8290440" y="22860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Reseau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22"/>
          <p:cNvSpPr/>
          <p:nvPr/>
        </p:nvSpPr>
        <p:spPr>
          <a:xfrm>
            <a:off x="8610480" y="2834640"/>
            <a:ext cx="2377080" cy="548280"/>
          </a:xfrm>
          <a:prstGeom prst="roundRect">
            <a:avLst>
              <a:gd name="adj" fmla="val 20000"/>
            </a:avLst>
          </a:prstGeom>
          <a:solidFill>
            <a:srgbClr val="ece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8c4fff"/>
                </a:solidFill>
                <a:effectLst/>
                <a:uFillTx/>
                <a:latin typeface="Calibri"/>
              </a:rPr>
              <a:t>1 NAT Gateway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3"/>
          <p:cNvSpPr/>
          <p:nvPr/>
        </p:nvSpPr>
        <p:spPr>
          <a:xfrm>
            <a:off x="8290440" y="35661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Ressource partagee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pour les 2 AZ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24"/>
          <p:cNvSpPr/>
          <p:nvPr/>
        </p:nvSpPr>
        <p:spPr>
          <a:xfrm>
            <a:off x="9021960" y="4206240"/>
            <a:ext cx="1554120" cy="383760"/>
          </a:xfrm>
          <a:prstGeom prst="roundRect">
            <a:avLst>
              <a:gd name="adj" fmla="val 50000"/>
            </a:avLst>
          </a:prstGeom>
          <a:solidFill>
            <a:srgbClr val="1f9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free tier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5"/>
          <p:cNvSpPr/>
          <p:nvPr/>
        </p:nvSpPr>
        <p:spPr>
          <a:xfrm>
            <a:off x="685800" y="493776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Aucune ressource couteuse ajoutee (pas de Multi-AZ, pas d'instances larges). Entre deux sessions, on peut mettre l'ASG a 0 et la base en pause, ou tout supprimer d'un clic.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Rectangle 2"/>
          <p:cNvSpPr/>
          <p:nvPr/>
        </p:nvSpPr>
        <p:spPr>
          <a:xfrm>
            <a:off x="0" y="932760"/>
            <a:ext cx="12191400" cy="63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3"/>
          <p:cNvSpPr/>
          <p:nvPr/>
        </p:nvSpPr>
        <p:spPr>
          <a:xfrm>
            <a:off x="457200" y="54720"/>
            <a:ext cx="11246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4"/>
          <p:cNvSpPr/>
          <p:nvPr/>
        </p:nvSpPr>
        <p:spPr>
          <a:xfrm>
            <a:off x="365760" y="6428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PROJET-1  |  Infrastructure Web AWS CloudFormation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5"/>
          <p:cNvSpPr/>
          <p:nvPr/>
        </p:nvSpPr>
        <p:spPr>
          <a:xfrm>
            <a:off x="10515600" y="64281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470"/>
                </a:solidFill>
                <a:effectLst/>
                <a:uFillTx/>
                <a:latin typeface="Calibri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33"/>
          <p:cNvSpPr/>
          <p:nvPr/>
        </p:nvSpPr>
        <p:spPr>
          <a:xfrm>
            <a:off x="2743200" y="2743560"/>
            <a:ext cx="6857640" cy="914040"/>
          </a:xfrm>
          <a:prstGeom prst="roundRect">
            <a:avLst>
              <a:gd name="adj" fmla="val 20000"/>
            </a:avLst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18360" bIns="1836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Merci de votre attention  —  Questions 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2026-07-08T18:20:35Z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